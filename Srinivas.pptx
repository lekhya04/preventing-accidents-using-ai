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568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IN" sz="3200" b="1" dirty="0">
                <a:solidFill>
                  <a:srgbClr val="FFFFFF"/>
                </a:solidFill>
                <a:latin typeface="Century Gothic" pitchFamily="34" charset="0"/>
              </a:rPr>
              <a:t>Leveraging Machine Learning Models to Predict Road Crash Severity Based on Environmental Factors</a:t>
            </a:r>
            <a:endParaRPr lang="en-US" sz="3200" b="1" dirty="0">
              <a:solidFill>
                <a:srgbClr val="FFFFFF"/>
              </a:solidFill>
              <a:latin typeface="Century Gothic" pitchFamily="34" charset="0"/>
              <a:sym typeface="Heading Now 71-78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Random Forest, XGBoost &amp; SVM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Class-Imbalance Handling on Malaysian Police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Presentation  |  Royal Malaysia Police Dataset (2014–2020)  |  9,752 Records</a:t>
            </a:r>
            <a:endParaRPr lang="en-US" sz="1300" dirty="0"/>
          </a:p>
        </p:txBody>
      </p:sp>
      <p:sp>
        <p:nvSpPr>
          <p:cNvPr id="8" name="TextBox 32">
            <a:extLst>
              <a:ext uri="{FF2B5EF4-FFF2-40B4-BE49-F238E27FC236}">
                <a16:creationId xmlns:a16="http://schemas.microsoft.com/office/drawing/2014/main" id="{382D02E5-BC96-2ED7-DF68-0684EBFDA8D5}"/>
              </a:ext>
            </a:extLst>
          </p:cNvPr>
          <p:cNvSpPr txBox="1"/>
          <p:nvPr/>
        </p:nvSpPr>
        <p:spPr>
          <a:xfrm>
            <a:off x="6073323" y="2576204"/>
            <a:ext cx="2747120" cy="898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Authers OF paper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Muhammad </a:t>
            </a:r>
            <a:r>
              <a:rPr lang="en-IN" sz="10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Fadhirul</a:t>
            </a:r>
            <a:r>
              <a:rPr lang="en-IN" sz="1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Anuar Mohd Azami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MdYushalify</a:t>
            </a:r>
            <a:r>
              <a:rPr lang="en-IN" sz="1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10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Misro</a:t>
            </a:r>
            <a:r>
              <a:rPr lang="en-IN" sz="1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∗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Rizati</a:t>
            </a:r>
            <a:r>
              <a:rPr lang="en-IN" sz="1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1000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Hamidun</a:t>
            </a:r>
            <a:r>
              <a:rPr lang="en-IN" sz="1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</a:t>
            </a:r>
            <a:endParaRPr lang="en-US" sz="1000" b="1" dirty="0">
              <a:solidFill>
                <a:schemeClr val="accent4">
                  <a:lumMod val="20000"/>
                  <a:lumOff val="80000"/>
                </a:schemeClr>
              </a:solidFill>
              <a:latin typeface="TT Firs Neue Bold"/>
              <a:ea typeface="TT Firs Neue Bold"/>
              <a:cs typeface="TT Firs Neue Bold"/>
              <a:sym typeface="TT Firs Neue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|  DATASETS USED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Source, Scale &amp; Key Predictors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Malaysia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(RMP)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PERIOD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2020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 SIZE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1417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9,752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Road-Crash Records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68880"/>
          <a:ext cx="5303520" cy="2285997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Foggy / Windy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943600" y="2468880"/>
            <a:ext cx="2834640" cy="2286000"/>
          </a:xfrm>
          <a:prstGeom prst="roundRect">
            <a:avLst>
              <a:gd name="adj" fmla="val 3200"/>
            </a:avLst>
          </a:prstGeom>
          <a:solidFill>
            <a:srgbClr val="E6F4F5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PREDICTORS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26480" y="30175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Light condition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Weather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Location type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Area type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|  DATA PROCESSING &amp; CLASSIFICATION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Missing-Value Treatment &amp; Class Distribution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RANDOM FOREST IMPUTATION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handle missing values without discarding valuable information.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16 missing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condition: 16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type: 17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E6F4F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AFTER IMPUTATION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were encoded appropriately for machine-learning analysis.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retained for modeling.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CRASH SEVERITY DISTRIBUTION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B03A2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FATAL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6,280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(64.40%)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46120" y="3383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C05A2B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SERIOUS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1,008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(10.34%)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0" y="33832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520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SLIGHT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2,464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(25.27%)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|  CLASS IMBALANCE STRATEGIES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Handling the Majority-Class Bias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is the majority class (64.4%). Accuracy alone is misleading — models must be evaluated on minority-class recall and F1.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Under-Sampling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majority-class samples to balance the training set.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SMOTE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Over-sampling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017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synthetic minority samples to improve minority representation.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CW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017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the importance (weight) of minority classes during training.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|  METHODOLOGY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ML Models, Balancing Strategies &amp; Evaluation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E6F4F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trees. Default + GridSearchCV optimized models.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XGBoost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boosting. Sequential trees minimize classification error.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E6F4F5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SVM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691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Machine. Optimal hyperplane for class separation.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CLASS BALANCING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 •  SMOTE  •  Class Weighting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each model configuration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mitigate majority-class bias.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6F4F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•  Precision  •  Recall  •  F1-score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Class-wise metrics emphasized because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insufficient.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|  EXPERIMENTAL SETUP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Methodology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28016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1097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1874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RF-based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128016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097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46120" y="1874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Encoding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128016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1097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9160" y="1874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• XGB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SVM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128016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1097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1874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• SMOTE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128016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5" name="Shape 23"/>
          <p:cNvSpPr/>
          <p:nvPr/>
        </p:nvSpPr>
        <p:spPr>
          <a:xfrm>
            <a:off x="7955280" y="1097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1188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35240" y="1874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Comparison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743200"/>
            <a:ext cx="8412480" cy="1920240"/>
          </a:xfrm>
          <a:prstGeom prst="roundRect">
            <a:avLst>
              <a:gd name="adj" fmla="val 3810"/>
            </a:avLst>
          </a:prstGeom>
          <a:solidFill>
            <a:srgbClr val="E6F4F5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TRAINING PIPELINE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32461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model  →  Hyperparameter optimization (GridSearchCV)  →  Class-balancing configurations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Configurations: RUS, SMOTE and Class Weighting tested for each ML model.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Overall accuracy plus class-wise Precision, Recall and F1-score.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|  BASELINE MODEL 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Initial Classification Performance (No Balancing)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5943600" cy="32918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8686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649224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Accuracy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649224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63.81%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Accuracy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9224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63.70%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400800" y="31546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Accuracy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9224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64.39%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|  ENVIRONMENTAL DISTRIBUTION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Frequency Patterns in the Dataset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WEATHER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 93.00%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6.35%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Foggy  0.53%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Windy  0.12%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E6F4F5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LIGHT CONDITION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 57.30%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+ street light  24.28%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without  12.67%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LOCATION TYPE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 41.90%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 34.18%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 14.05%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 9.87%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27889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E6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AREA TYPE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2918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 80.14%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 8.73%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Industrial/Construction  5.12%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|  MODEL OBSERVATIONS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the Initial Results Reveal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63.81%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recall 98.67%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recall 0.66%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recall 0.81%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majority-class bias.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gives the best reported RF trade-off.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XGBoost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63.70%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recall 98.41%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recall 0.99%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recall 0.95%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yields 41.05% accuracy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improved minority recall/F1.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SVM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64.39%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recall 100%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recall 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recall 0%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baseline accuracy,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minority classes completely missed.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|  FINAL OBSERVATIONS &amp; 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Takeaways for Safety Applications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3200400"/>
          </a:xfrm>
          <a:prstGeom prst="roundRect">
            <a:avLst>
              <a:gd name="adj" fmla="val 262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Fatal crashes dominate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weather most frequent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Daylight has highest share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Rural &amp; urban locations lead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“Others” is largest area type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88920" cy="3200400"/>
          </a:xfrm>
          <a:prstGeom prst="roundRect">
            <a:avLst>
              <a:gd name="adj" fmla="val 2623"/>
            </a:avLst>
          </a:prstGeom>
          <a:solidFill>
            <a:srgbClr val="E6F4F5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0972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82880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baselines favor Fatal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Tuning alone is insufficient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RUS / SMOTE / CW help minority detection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+ SMOTE gives best reported balance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097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82880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variables are useful predictors, but class imbalance must be handled carefully.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safety applications, prioritize class-wise Recall and F1 — not accuracy alone.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Crash Severity Prediction  |  Machine Learning  |  Class Imbalance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779</Words>
  <Application>Microsoft Office PowerPoint</Application>
  <PresentationFormat>On-screen Show (16:9)</PresentationFormat>
  <Paragraphs>265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TT Firs Neue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Road Crash Severity with Machine Learning</dc:title>
  <dc:subject>Road Crash Severity Classification using RF, XGBoost, SVM</dc:subject>
  <dc:creator>M.Tech Presentation</dc:creator>
  <cp:lastModifiedBy>Srinivas M</cp:lastModifiedBy>
  <cp:revision>2</cp:revision>
  <dcterms:created xsi:type="dcterms:W3CDTF">2026-08-21T19:28:58Z</dcterms:created>
  <dcterms:modified xsi:type="dcterms:W3CDTF">2026-08-21T19:39:14Z</dcterms:modified>
</cp:coreProperties>
</file>