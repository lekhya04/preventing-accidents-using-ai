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2801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AI-Based Approaches for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Drunk Driving Detection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In-Vehicle and Out-Vehicle Techniques, Challenges, and Future Directions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2286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749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Alsulieman et al.  |  IEEE Open Journal of the Computer Society  |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63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463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Motivation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783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AI detection is critical for road safety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606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2606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Contributions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2926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Taxonomy, modalities, and comparative analysis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749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3749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In-Vehicle Techniques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4069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Breath, image, iris, biological, behavior &amp; audio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28016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1463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669280" y="1463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Out-Vehicle Techniques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669280" y="1783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Roadside cameras, drones &amp; external monitoring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42316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37760" y="2606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669280" y="2606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Limitations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669280" y="2926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Sensing reliability, privacy, and robustness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356616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37760" y="3749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669280" y="3749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Directions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669280" y="4069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fusion and scalable deployment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Drunk Driving: A Critical Public Safety Challenge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3716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~34%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20116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U.S. traffic deaths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to alcohol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23444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13716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29000" y="20116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methods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(breathalyzers, tests)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23444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63640" y="13716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263640" y="20116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Incidence remains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despite strict laws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Traditional Methods Fall Short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164592" cy="16459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291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Breathalyzers and sobriety tests are typically used after an incident or during routine checks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721608"/>
            <a:ext cx="164592" cy="16459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67588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In-vehicle sensor systems can be intrusive, costly, and raise privacy concerns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105656"/>
            <a:ext cx="164592" cy="16459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05993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out-vehicle monitoring, authorities cannot identify impaired drivers preventively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489704"/>
            <a:ext cx="164592" cy="16459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443984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Alcohol impairs reaction time, decision-making, coordination, and visual processing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Survey Adds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3258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Deployment-Oriented Taxonomy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80160" y="162763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Organizes systems into in-vehicle and out-vehicle approaches for clearer real-world implementation perspective.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1031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860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2402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Expanded Sensing Modalities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280160" y="254203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audio-based detection alongside breath, image, iris, physiological, and driving behavior analysis.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7200" y="30175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1546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Comparative Analysis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280160" y="345643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tables covering sensing modalities, datasets, strengths, limitations, and system responses.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57200" y="39319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11480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40690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Challenges &amp; Future Paths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280160" y="437083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issues in reliability, robustness, privacy, and feasibility with research directions.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TAXONOMY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In-Vehicle vs Out-Vehicle Detection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411480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43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IN-VEHICLE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6733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Breath Sensors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187452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MQ-3, electrochemical, ignition lock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9456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21762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Recognition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960120" y="237744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Facial features, thermal, CNNs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9748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267919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Iris Recognition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960120" y="288036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Blink, pupil, eye closure (EAR)</a:t>
            </a:r>
            <a:endParaRPr lang="en-US" sz="11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00400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60120" y="318211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Biological Sensors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960120" y="33832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 rate, rPPG, skin temp</a:t>
            </a:r>
            <a:endParaRPr lang="en-US" sz="11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703320"/>
            <a:ext cx="292608" cy="29260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60120" y="3685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Behavior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960120" y="38862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Steering, speed, acceleration</a:t>
            </a:r>
            <a:endParaRPr lang="en-US" sz="11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206240"/>
            <a:ext cx="292608" cy="29260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960120" y="41879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Analysis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960120" y="438912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 features, MFCC, CNN</a:t>
            </a:r>
            <a:endParaRPr lang="en-US" sz="1100" dirty="0"/>
          </a:p>
        </p:txBody>
      </p:sp>
      <p:sp>
        <p:nvSpPr>
          <p:cNvPr id="25" name="Shape 17"/>
          <p:cNvSpPr/>
          <p:nvPr/>
        </p:nvSpPr>
        <p:spPr>
          <a:xfrm>
            <a:off x="4663440" y="1051560"/>
            <a:ext cx="411480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4663440" y="1051560"/>
            <a:ext cx="4114800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7" name="Text 19"/>
          <p:cNvSpPr/>
          <p:nvPr/>
        </p:nvSpPr>
        <p:spPr>
          <a:xfrm>
            <a:off x="4663440" y="1143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OUT-VEHICLE</a:t>
            </a:r>
            <a:endParaRPr lang="en-US" sz="16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17830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303520" y="17647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Behavior Analysis</a:t>
            </a:r>
            <a:endParaRPr lang="en-US" sz="1400" dirty="0"/>
          </a:p>
        </p:txBody>
      </p:sp>
      <p:sp>
        <p:nvSpPr>
          <p:cNvPr id="30" name="Text 21"/>
          <p:cNvSpPr/>
          <p:nvPr/>
        </p:nvSpPr>
        <p:spPr>
          <a:xfrm>
            <a:off x="5303520" y="2039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UAV/drone trajectories, V2X, velocity</a:t>
            </a:r>
            <a:endParaRPr lang="en-US" sz="12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2468880"/>
            <a:ext cx="320040" cy="32004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5303520" y="24505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Recognition</a:t>
            </a:r>
            <a:endParaRPr lang="en-US" sz="1400" dirty="0"/>
          </a:p>
        </p:txBody>
      </p:sp>
      <p:sp>
        <p:nvSpPr>
          <p:cNvPr id="33" name="Text 23"/>
          <p:cNvSpPr/>
          <p:nvPr/>
        </p:nvSpPr>
        <p:spPr>
          <a:xfrm>
            <a:off x="5303520" y="27249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Roadside cameras, NIR, cell-phone/seatbelt</a:t>
            </a:r>
            <a:endParaRPr lang="en-US" sz="1200" dirty="0"/>
          </a:p>
        </p:txBody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0" y="3154680"/>
            <a:ext cx="320040" cy="32004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5303520" y="3136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Sensors</a:t>
            </a:r>
            <a:endParaRPr lang="en-US" sz="1400" dirty="0"/>
          </a:p>
        </p:txBody>
      </p:sp>
      <p:sp>
        <p:nvSpPr>
          <p:cNvPr id="36" name="Text 25"/>
          <p:cNvSpPr/>
          <p:nvPr/>
        </p:nvSpPr>
        <p:spPr>
          <a:xfrm>
            <a:off x="5303520" y="34107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cams, radar, large-scale monitoring</a:t>
            </a:r>
            <a:endParaRPr lang="en-US" sz="1200" dirty="0"/>
          </a:p>
        </p:txBody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6320" y="3840480"/>
            <a:ext cx="320040" cy="320040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5303520" y="38221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Enforcement Focus</a:t>
            </a:r>
            <a:endParaRPr lang="en-US" sz="1400" dirty="0"/>
          </a:p>
        </p:txBody>
      </p:sp>
      <p:sp>
        <p:nvSpPr>
          <p:cNvPr id="39" name="Text 27"/>
          <p:cNvSpPr/>
          <p:nvPr/>
        </p:nvSpPr>
        <p:spPr>
          <a:xfrm>
            <a:off x="5303520" y="40965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monitoring, authority alerts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IN-VEHICLE TECHNIQUES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Breath, Image &amp; Iris Recognition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788920" cy="37947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27889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1556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Breath Sensors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MQ-3 / electrochemical sensors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Ignition interlock &amp; alerts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Helmet-integrated systems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632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IoT + GPS + cloud alerts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520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Strength: Direct BAC measure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9776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Limitation: Placement &amp; false positives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1051560"/>
            <a:ext cx="2788920" cy="37947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solidFill>
            <a:srgbClr val="1E5FFF"/>
          </a:solidFill>
          <a:ln/>
        </p:spPr>
      </p:sp>
      <p:sp>
        <p:nvSpPr>
          <p:cNvPr id="15" name="Text 13"/>
          <p:cNvSpPr/>
          <p:nvPr/>
        </p:nvSpPr>
        <p:spPr>
          <a:xfrm>
            <a:off x="3246120" y="111556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Recognition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83280" y="16916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CNNs (VGG16, ResNet, MobileNet)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21488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Facial landmarks, EAR, PERCLOS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26060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Thermal imaging for temperature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30632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Drowsiness + intoxication cues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3520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Strength: Non-contact, rich features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0" y="39776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Limitation: Lighting &amp; occlusion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72200" y="1051560"/>
            <a:ext cx="2788920" cy="37947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72200" y="1051560"/>
            <a:ext cx="2788920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6172200" y="111556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Iris Recognition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09360" y="16916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Blink rate, eye closure, pupil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09360" y="21488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MobileNet-V2 / ResNet-50V2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26060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Transfer learning for small data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09360" y="30632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Up to 97% drowsiness accuracy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09360" y="3520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Strength: High precision eye cues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09360" y="39776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Limitation: Individual variation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IN-VEHICLE TECHNIQUES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Biological Sensors, Behavior &amp; Audio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788920" cy="37947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27889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1556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Non-Invasive Biological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Heart rate, SpO2, respiration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rPPG from facial video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Nasal skin temperature + EEG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632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Seat-embedded sensors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520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DetectDUI: vital + coordination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9776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Accuracy often &gt;95%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1051560"/>
            <a:ext cx="2788920" cy="37947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solidFill>
            <a:srgbClr val="1E5FFF"/>
          </a:solidFill>
          <a:ln/>
        </p:spPr>
      </p:sp>
      <p:sp>
        <p:nvSpPr>
          <p:cNvPr id="15" name="Text 13"/>
          <p:cNvSpPr/>
          <p:nvPr/>
        </p:nvSpPr>
        <p:spPr>
          <a:xfrm>
            <a:off x="3246120" y="111556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Behavior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83280" y="16916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HMM + RNN hybrid (98%)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21488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Steering, speed, lane position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26060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Smartphone accel + LSTM/RF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30632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Anomaly detection (iForest)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3520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CART for BAC classification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0" y="39776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Sensitive to road conditions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72200" y="1051560"/>
            <a:ext cx="2788920" cy="37947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72200" y="1051560"/>
            <a:ext cx="2788920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6172200" y="111556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Audio-Based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09360" y="16916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ADLAIA: 12-sec speech clips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09360" y="21488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MFCC + CNN (up to 96%)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26060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Pitch, rate, prosody changes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09360" y="30632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German Alcohol Language Corpus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09360" y="3520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Non-invasive &amp; remote potential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09360" y="39776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Noise &amp; language variability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OUT-VEHICLE TECHNIQUES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Monitoring for Large-Scale Safety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Behavior Analysis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UAV / drone trajectory capture (highD dataset)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1214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Transmissibility algorithms on velocity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5054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CNN-LSTM on acceleration + V2X sharing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8895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Roadside cameras + spatiotemporal DL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2735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YOLO / SSD / Faster R-CNN for detection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Up to 98%+ accuracy in simulations &amp; tests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4041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Focus: lane changes, weaving, aggression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051560"/>
            <a:ext cx="411480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Recognition Systems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NIR cameras at windshield for phone use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21214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DPM face detection + ML classifiers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25054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Seatbelt violation detection (NIR + RGB)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28895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SSD, CNN, Fisher Vectors methods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32735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Handles glare, tint, low light better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Primarily secondary behaviors today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4041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Strong potential for impairment cues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Cross-Cutting Limitations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7889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2801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Sensing Reliability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173736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quality, calibration, and placement heavily affect accuracy. Environmental interference common.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46120" y="1051560"/>
            <a:ext cx="27889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23444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86200" y="12801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Robustness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429000" y="173736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Lighting, occlusion, noise, temperature, and weather degrade performance across modalities.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172200" y="1051560"/>
            <a:ext cx="27889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12280" y="12801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&amp; Acceptance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355080" y="173736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In-cabin biometrics raise intrusion concerns. Out-vehicle cameras raise consent and regulatory issues.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320040" y="2971800"/>
            <a:ext cx="27889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15468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60120" y="32004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Low-Level Impairment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02920" y="365760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Subtle BAC changes are hard to distinguish from normal variability. Systems struggle below legal limits.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3246120" y="2971800"/>
            <a:ext cx="27889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15468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886200" y="32004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Benchmarks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3429000" y="365760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 of standardized datasets, statistical validation, and shared protocols limits comparison.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172200" y="2971800"/>
            <a:ext cx="27889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154680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812280" y="32004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Feasibility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6355080" y="365760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Cost, infrastructure, user compliance, and regional regulations constrain large-scale adoption.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DIRECTIONS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Strategic Research Paths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52728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0759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1887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Fusion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149047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in-vehicle physiological, behavioral, and audio signals with out-vehicle visual and trajectory data for higher robustness and lower false positives.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212848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677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21488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Low-Impairment Sensitivity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63040" y="245059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algorithms capable of detecting subtle intoxication below legal BAC limits, where current systems often fail yet risk remains significant.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172968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278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1089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Deployment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341071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lightweight, real-time models suitable for edge devices in vehicles and roadside units, balancing accuracy with computational cost.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4133088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1879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40690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 &amp; Standards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63040" y="437083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common datasets, evaluation protocols, and performance metrics to enable fair comparison and accelerate reproducible research.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09728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887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In-vehicle systems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49047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advanced rapidly with multimodal sensing but remain limited by sensor reliability, environment, and driver compliance.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65960"/>
            <a:ext cx="109728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1031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Out-vehicle systems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240487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scalable, less intrusive monitoring of vehicle behavior and facial cues, yet remain underexplored for pure impairment detection.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880360"/>
            <a:ext cx="109728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0175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frameworks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331927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Combining both paradigms can deliver comprehensive, proactive detection that neither approach achieves alone.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794760"/>
            <a:ext cx="109728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9319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ahead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423367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fusion, better low-BAC sensitivity, edge-efficient models, and shared benchmarks are essential next steps.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8288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2004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Alsulieman, R. et al. (2026). AI-Based Approaches for Drunk Driving Detection for Traffic Safety.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Open Journal of the Computer Society, Vol. 7.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Approaches for Drunk Driving Detection</dc:title>
  <dc:subject>In-Vehicle and Out-Vehicle Techniques, Challenges, and Future Directions</dc:subject>
  <dc:creator>Based on Alsulieman et al.</dc:creator>
  <cp:lastModifiedBy>Based on Alsulieman et al.</cp:lastModifiedBy>
  <cp:revision>1</cp:revision>
  <dcterms:created xsi:type="dcterms:W3CDTF">2026-08-21T19:47:26Z</dcterms:created>
  <dcterms:modified xsi:type="dcterms:W3CDTF">2026-08-21T19:47:26Z</dcterms:modified>
</cp:coreProperties>
</file>