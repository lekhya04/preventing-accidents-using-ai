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169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A7A"/>
          </a:solidFill>
          <a:ln/>
        </p:spPr>
      </p:sp>
      <p:pic>
        <p:nvPicPr>
          <p:cNvPr id="4" name="Image 0" descr="hstfa_imgs/highw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0"/>
            <a:ext cx="469361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0"/>
            <a:ext cx="4693615" cy="6858000"/>
          </a:xfrm>
          <a:prstGeom prst="rect">
            <a:avLst/>
          </a:prstGeom>
          <a:solidFill>
            <a:srgbClr val="0F2C59">
              <a:alpha val="5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55448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Spatio-Temporal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Aggregation for Road Safety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Classification From Videos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HSTFA + Weighted Focal Loss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657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multi-attribute road safety assessment from survey videos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Shahid  •  Marko Ševrović  •  Amirhossein Hassani  •  Monica Olyslagers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5720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  •  2026  •  DOI: 10.1109/ACCESS.2026.3686110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55280" y="137160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95528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72.20%</a:t>
            </a:r>
            <a:endParaRPr 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7955280" y="2011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Macro F1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955280" y="274320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95528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+1.51 pp</a:t>
            </a:r>
            <a:endParaRPr 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7955280" y="3383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Vanilla CoAtNet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955280" y="411480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4297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2,300 km</a:t>
            </a:r>
            <a:endParaRPr 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7955280" y="4754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Coverage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Dataset Used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91440" cy="164592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Survey Source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road survey videos linked with iRAP coding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109728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06240" y="1097280"/>
            <a:ext cx="91440" cy="164592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1645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2,300 km of public roads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Bosnia &amp; Herzegovina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097280"/>
            <a:ext cx="3657600" cy="164592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/>
          <a:effectLst>
            <a:outerShdw blurRad="762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097280"/>
            <a:ext cx="91440" cy="164592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Segments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1645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199,233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 consecutive segments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6858000" cy="2926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186,796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93.75%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199,233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498080" y="3017520"/>
            <a:ext cx="4297680" cy="2926080"/>
          </a:xfrm>
          <a:prstGeom prst="roundRect">
            <a:avLst>
              <a:gd name="adj" fmla="val 2500"/>
            </a:avLst>
          </a:prstGeom>
          <a:solidFill>
            <a:srgbClr val="E6F3F3"/>
          </a:solidFill>
          <a:ln/>
        </p:spPr>
      </p:sp>
      <p:sp>
        <p:nvSpPr>
          <p:cNvPr id="19" name="Text 16"/>
          <p:cNvSpPr/>
          <p:nvPr/>
        </p:nvSpPr>
        <p:spPr>
          <a:xfrm>
            <a:off x="7726680" y="3200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/ Predictors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726680" y="3657600"/>
            <a:ext cx="3931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iRAP attributes annotated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attributes selected for experiments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long-tailed class distribution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GPS-aligned video ↔ iRAP labels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22" name="Text 19"/>
          <p:cNvSpPr/>
          <p:nvPr/>
        </p:nvSpPr>
        <p:spPr>
          <a:xfrm>
            <a:off x="36576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Shahid et al.  |  IEEE Access 2026  |  DOI: 10.1109/ACCESS.2026.3686110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43000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Processing &amp; Classification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143000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1A7A7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1887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Video-to-Segment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endpoints identify matching frames. Frames between endpoints assigned to each 10-m segment. No rotation / flip / crop (bilateral labels depend on road side).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11430000" cy="1143000"/>
          </a:xfrm>
          <a:prstGeom prst="roundRect">
            <a:avLst>
              <a:gd name="adj" fmla="val 4800"/>
            </a:avLst>
          </a:prstGeom>
          <a:solidFill>
            <a:srgbClr val="E6F3F3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1A7A7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97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468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Representation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278892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attribute is an independent multi-class task. Some attributes are bilateral (driver/passenger side). Roadside severity is hierarchical and highly granular.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1143000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1A7A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749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406908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Long-tailed attributes can have majority/minority ratios above 100:1. Weighted Focal Loss (WFL) combines focal modulation with square-root inverse-frequency weights.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892040"/>
            <a:ext cx="11430000" cy="1143000"/>
          </a:xfrm>
          <a:prstGeom prst="roundRect">
            <a:avLst>
              <a:gd name="adj" fmla="val 4800"/>
            </a:avLst>
          </a:prstGeom>
          <a:solidFill>
            <a:srgbClr val="E6F3F3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1A7A7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257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5029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Preprocessing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88720" y="534924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384×384 input resolution. Multi-frame temporal sequences. No geometric augmentation that would break bilateral label consistency.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Shahid et al.  |  IEEE Access 2026  |  DOI: 10.1109/ACCESS.2026.3686110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Methodology — HSTFA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240280" cy="2926080"/>
          </a:xfrm>
          <a:prstGeom prst="roundRect">
            <a:avLst>
              <a:gd name="adj" fmla="val 3265"/>
            </a:avLst>
          </a:prstGeom>
          <a:solidFill>
            <a:srgbClr val="F5F7FA"/>
          </a:solidFill>
          <a:ln/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240280" cy="50292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618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965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CoAtNet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ImageNet-12k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97480" y="1188720"/>
            <a:ext cx="2240280" cy="2926080"/>
          </a:xfrm>
          <a:prstGeom prst="roundRect">
            <a:avLst>
              <a:gd name="adj" fmla="val 3265"/>
            </a:avLst>
          </a:prstGeom>
          <a:solidFill>
            <a:srgbClr val="F5F7FA"/>
          </a:solidFill>
          <a:ln/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188720"/>
            <a:ext cx="2240280" cy="50292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2618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Modeling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1920240"/>
            <a:ext cx="1965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Sinusoidal PE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attention layers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heads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74920" y="1188720"/>
            <a:ext cx="2240280" cy="2926080"/>
          </a:xfrm>
          <a:prstGeom prst="roundRect">
            <a:avLst>
              <a:gd name="adj" fmla="val 3265"/>
            </a:avLst>
          </a:prstGeom>
          <a:solidFill>
            <a:srgbClr val="F5F7FA"/>
          </a:solidFill>
          <a:ln/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74920" y="1188720"/>
            <a:ext cx="2240280" cy="50292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2618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Modeling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1920240"/>
            <a:ext cx="1965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 cross-attention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spatial features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frames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52360" y="1188720"/>
            <a:ext cx="2240280" cy="2926080"/>
          </a:xfrm>
          <a:prstGeom prst="roundRect">
            <a:avLst>
              <a:gd name="adj" fmla="val 3265"/>
            </a:avLst>
          </a:prstGeom>
          <a:solidFill>
            <a:srgbClr val="F5F7FA"/>
          </a:solidFill>
          <a:ln/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52360" y="1188720"/>
            <a:ext cx="2240280" cy="50292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19" name="Text 17"/>
          <p:cNvSpPr/>
          <p:nvPr/>
        </p:nvSpPr>
        <p:spPr>
          <a:xfrm>
            <a:off x="7452360" y="12618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+ Aggregation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89520" y="1920240"/>
            <a:ext cx="1965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concat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=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Segment-aware weighting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829800" y="1188720"/>
            <a:ext cx="2240280" cy="2926080"/>
          </a:xfrm>
          <a:prstGeom prst="roundRect">
            <a:avLst>
              <a:gd name="adj" fmla="val 3265"/>
            </a:avLst>
          </a:prstGeom>
          <a:solidFill>
            <a:srgbClr val="F5F7FA"/>
          </a:solidFill>
          <a:ln/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829800" y="1188720"/>
            <a:ext cx="2240280" cy="50292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23" name="Text 21"/>
          <p:cNvSpPr/>
          <p:nvPr/>
        </p:nvSpPr>
        <p:spPr>
          <a:xfrm>
            <a:off x="9829800" y="12618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Heads / Loss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966960" y="1920240"/>
            <a:ext cx="1965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attribute-specific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heads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Focal Loss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4389120"/>
            <a:ext cx="11430000" cy="1737360"/>
          </a:xfrm>
          <a:prstGeom prst="roundRect">
            <a:avLst>
              <a:gd name="adj" fmla="val 4211"/>
            </a:avLst>
          </a:prstGeom>
          <a:solidFill>
            <a:srgbClr val="E6F3F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72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5029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frames  →  CoAtNet backbone  →  Temporal attention (sinusoidal PE)  →  Spatial cross-attention (SCM)  →  Multi-scale fusion  →  23 MLP heads  →  Weighted Focal Loss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Shahid et al.  |  IEEE Access 2026  |  DOI: 10.1109/ACCESS.2026.3686110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Experimental Setup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2,300 km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survey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199,233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29768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 segments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09728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1280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 / 3.3 / 2.9%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0" y="1783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651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576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246888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2651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384×384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29768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 input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0" y="246888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651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2×10⁻⁵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0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LR (OneCycle)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023360"/>
            <a:ext cx="5669280" cy="2103120"/>
          </a:xfrm>
          <a:prstGeom prst="roundRect">
            <a:avLst>
              <a:gd name="adj" fmla="val 3478"/>
            </a:avLst>
          </a:prstGeom>
          <a:solidFill>
            <a:srgbClr val="E6F3F3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160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457200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Backbone unfrozen  •  AMP fp16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Gradient clipping = 1.0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 epochs  •  Batch size 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Dropout 0.4  •  Seed 42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AdamW + OneCycleLR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40233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4160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Metrics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7960" y="457200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NVIDIA GeForce RTX 4080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~2 h / epoch (proposed model)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Macro F1  •  Macro ROC-AUC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Macro PR-AUC  •  Brier Score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AURC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Shahid et al.  |  IEEE Access 2026  |  DOI: 10.1109/ACCESS.2026.3686110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Evaluation Metrics &amp; Main Results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7315200" cy="3200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Macro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HSTFA + WFL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7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Vanilla CoAtNet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70.69%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+ dynamic loss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68.13%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+ cross-entropy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09728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1A7A7A"/>
          </a:solidFill>
          <a:ln/>
        </p:spPr>
      </p:sp>
      <p:sp>
        <p:nvSpPr>
          <p:cNvPr id="5" name="Text 4"/>
          <p:cNvSpPr/>
          <p:nvPr/>
        </p:nvSpPr>
        <p:spPr>
          <a:xfrm>
            <a:off x="8138160" y="1325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72.20%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13816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HSTFA + WFL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38160" y="265176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</p:spPr>
      </p:sp>
      <p:sp>
        <p:nvSpPr>
          <p:cNvPr id="10" name="Text 7"/>
          <p:cNvSpPr/>
          <p:nvPr/>
        </p:nvSpPr>
        <p:spPr>
          <a:xfrm>
            <a:off x="8138160" y="2880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70.69%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13816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CoAtNet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38160" y="420624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</p:spPr>
      </p:sp>
      <p:sp>
        <p:nvSpPr>
          <p:cNvPr id="13" name="Text 10"/>
          <p:cNvSpPr/>
          <p:nvPr/>
        </p:nvSpPr>
        <p:spPr>
          <a:xfrm>
            <a:off x="8138160" y="4434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+1.51 pp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138160" y="5029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over baseline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5720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is the principal metric because the task is strongly imbalanced.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model consistently outperforms prior approaches across the 23 attributes.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Shahid et al.  |  IEEE Access 2026  |  DOI: 10.1109/ACCESS.2026.3686110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3000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Quantitative Observations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E6F3F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Attributes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Delineation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 0.997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  0.996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AURC  &lt; 0.003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0972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FEF3E2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280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5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Semantic Attributes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173736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severity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AURC  = 0.175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 = 0.617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11430000" cy="2286000"/>
          </a:xfrm>
          <a:prstGeom prst="roundRect">
            <a:avLst>
              <a:gd name="adj" fmla="val 3200"/>
            </a:avLst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31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3434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Structurally distinct attributes remain reliable at high coverage; complex semantic attributes require stronger abstention to maintain low error.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attributes show strong calibration; residual errors are mainly linked to task uncertainty and label ambiguity.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Confidence-aware evaluation is important because difficult safety attributes can remain uncertain even when aggregate performance is strong.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Shahid et al.  |  IEEE Access 2026  |  DOI: 10.1109/ACCESS.2026.3686110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Model Observations — Ablation Studies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749040" cy="27432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/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3749040" cy="50292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618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/ 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PE: 70.91%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Sinusoidal PE: 71.95%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context: {t−4, t−1, t}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1188720"/>
            <a:ext cx="3749040" cy="27432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/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188720"/>
            <a:ext cx="3749040" cy="50292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2618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192024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(depth 2): 72.20%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fusion: 71.62%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is stronger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0" y="1188720"/>
            <a:ext cx="3749040" cy="27432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/>
          <a:effectLst>
            <a:outerShdw blurRad="63500" dist="25400" dir="162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188720"/>
            <a:ext cx="3749040" cy="50292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2618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58200" y="192024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Loss: 70.69%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inv-freq WFL: 69.76%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WFL: 70.81%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11430000" cy="1828800"/>
          </a:xfrm>
          <a:prstGeom prst="roundRect">
            <a:avLst>
              <a:gd name="adj" fmla="val 4000"/>
            </a:avLst>
          </a:prstGeom>
          <a:solidFill>
            <a:srgbClr val="E6F3F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89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Finding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HSTFA contributes the major improvement; WFL adds a modest but useful gain for long-tailed attributes.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Macro F1 reaches 72.20% with the full proposed configuration.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Shahid et al.  |  IEEE Access 2026  |  DOI: 10.1109/ACCESS.2026.3686110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Final Observation &amp; Conclusion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794760" cy="4114800"/>
          </a:xfrm>
          <a:prstGeom prst="roundRect">
            <a:avLst>
              <a:gd name="adj" fmla="val 1928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097280"/>
            <a:ext cx="3794760" cy="54864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88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429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199,233 valid 10-m segments across 2,300 km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23 road safety attributes evaluated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Strongly long-tailed distribution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Video &amp; iRAP labels aligned via GPS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097280"/>
            <a:ext cx="3794760" cy="4114800"/>
          </a:xfrm>
          <a:prstGeom prst="roundRect">
            <a:avLst>
              <a:gd name="adj" fmla="val 1928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251960" y="1097280"/>
            <a:ext cx="3794760" cy="54864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188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Findings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1828800"/>
            <a:ext cx="3429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HSTFA jointly models spatial + temporal info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Segment-aware aggregation improves frames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WFL addresses rare safety-critical classes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 Macro F1 reaches 72.20%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3880" y="1097280"/>
            <a:ext cx="3794760" cy="4114800"/>
          </a:xfrm>
          <a:prstGeom prst="roundRect">
            <a:avLst>
              <a:gd name="adj" fmla="val 1928"/>
            </a:avLst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880" y="1097280"/>
            <a:ext cx="3794760" cy="548640"/>
          </a:xfrm>
          <a:prstGeom prst="rect">
            <a:avLst/>
          </a:prstGeom>
          <a:solidFill>
            <a:srgbClr val="1A7A7A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880" y="11887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1828800"/>
            <a:ext cx="3429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assessment is feasible at scale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 &amp; class-wise metrics matter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Limitation: monocular RGB lacks depth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Future: LiDAR + multi-country validation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F2C59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660196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Shahid et al.  |  IEEE Access 2026  |  DOI: 10.1109/ACCESS.2026.3686110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A7A"/>
          </a:solidFill>
          <a:ln/>
        </p:spPr>
      </p:sp>
      <p:pic>
        <p:nvPicPr>
          <p:cNvPr id="4" name="Image 0" descr="hstfa_imgs/ro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F2C59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0116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2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48640" y="2834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6576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multi-attribute road safety assessment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survey videos is feasible at scale.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4754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Shahid et al.  |  IEEE Access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947</Words>
  <Application>Microsoft Office PowerPoint</Application>
  <PresentationFormat>Widescreen</PresentationFormat>
  <Paragraphs>207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HSTFA Road Safety Attributes Classification</dc:title>
  <dc:subject>PptxGenJS Presentation</dc:subject>
  <dc:creator>M.Tech Presentation</dc:creator>
  <cp:lastModifiedBy>Srinivas M</cp:lastModifiedBy>
  <cp:revision>3</cp:revision>
  <dcterms:created xsi:type="dcterms:W3CDTF">2026-08-21T19:10:03Z</dcterms:created>
  <dcterms:modified xsi:type="dcterms:W3CDTF">2026-08-21T19:36:27Z</dcterms:modified>
</cp:coreProperties>
</file>